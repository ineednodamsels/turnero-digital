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59" r:id="rId5"/>
    <p:sldId id="260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4F4F4"/>
    <a:srgbClr val="1A2024"/>
    <a:srgbClr val="FD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09621A-A65E-487C-8952-7D88388EA0B4}" type="datetimeFigureOut">
              <a:rPr lang="es-AR" smtClean="0"/>
              <a:t>1/10/2026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2C5A1-0866-4D82-AEF4-B8F5E76A81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326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795C2-1C28-C8FA-F802-0F0ACF95C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03907A-DCA2-7E5C-9B31-854D45177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21830C-716C-83F1-545E-A5A9154A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0BBD-158F-4C2F-B47A-3E5B711E87AF}" type="datetimeFigureOut">
              <a:rPr lang="es-AR" smtClean="0"/>
              <a:t>1/10/2026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94F620-CA60-2E46-786A-75B6A0A46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3E1139-5A31-EA0F-69A6-796AFE85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0F4A-7015-44BB-82E0-936A04E30DB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7297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ABE48-5DA5-F036-3955-B0D6B53C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88FAF9-8685-BD97-CB3A-C04A26246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DB15A8-8DC8-104B-E3F5-FCAF890C9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0BBD-158F-4C2F-B47A-3E5B711E87AF}" type="datetimeFigureOut">
              <a:rPr lang="es-AR" smtClean="0"/>
              <a:t>1/10/2026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3632CA-19D8-D672-E26E-78C92AC33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1545F6-AA50-B045-77C9-7BCBDB6F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0F4A-7015-44BB-82E0-936A04E30DB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05485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63CA2-3C2D-BDDC-70BD-C9BCA38FE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5B3C60-C19B-ECC4-A536-3AD51F9A7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7E86DA-18C8-C265-9E09-CC0A17C46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0BBD-158F-4C2F-B47A-3E5B711E87AF}" type="datetimeFigureOut">
              <a:rPr lang="es-AR" smtClean="0"/>
              <a:t>1/10/2026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CC8F04-BED7-DEFF-237A-EA5B9F866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7A0301-4C46-B3B7-FE32-2D9DF44CF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0F4A-7015-44BB-82E0-936A04E30DB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532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92516-C07F-3379-3D5D-7E136470D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6968B8-EE8A-00F8-A24C-685052E66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2D7337-8014-5C53-4A67-151F40CFD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E5B6DA-6D15-4734-03B6-85BF49DC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0BBD-158F-4C2F-B47A-3E5B711E87AF}" type="datetimeFigureOut">
              <a:rPr lang="es-AR" smtClean="0"/>
              <a:t>1/10/2026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8BC2B2-E4B1-CB8C-67B1-F486E54D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912FB-B735-1401-5B45-7FB8C8170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0F4A-7015-44BB-82E0-936A04E30DB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345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98CD8-10FD-BF07-EFC9-16D5E4A67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8C1065-933C-0908-0C17-0C12A517A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6932FE-38F0-31BF-4D17-14159B9F5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3FBEBCC-143B-56A6-F8D9-D710C9089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93D2A27-CB78-B94B-BDBC-ADCEA9A3A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CA881A7-42D5-8104-C355-26DD9AC8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0BBD-158F-4C2F-B47A-3E5B711E87AF}" type="datetimeFigureOut">
              <a:rPr lang="es-AR" smtClean="0"/>
              <a:t>1/10/2026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C406534-3DB1-5980-B914-03A95259F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1E578BC-01FB-CA50-A0FE-D0ADE7A5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0F4A-7015-44BB-82E0-936A04E30DB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91494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EB962-43AA-8EDC-9830-F5B2647B5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45CAE74-1994-AC6A-969B-8A97D8B7A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0BBD-158F-4C2F-B47A-3E5B711E87AF}" type="datetimeFigureOut">
              <a:rPr lang="es-AR" smtClean="0"/>
              <a:t>1/10/2026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B08DF4-3139-C0A9-8C3D-2505CCC6A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806D21-19C7-648F-E235-E2A24892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0F4A-7015-44BB-82E0-936A04E30DB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8378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10CE8D4-B781-A20F-971E-94F5694EC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0BBD-158F-4C2F-B47A-3E5B711E87AF}" type="datetimeFigureOut">
              <a:rPr lang="es-AR" smtClean="0"/>
              <a:t>1/10/2026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DF37B96-E31B-53BF-7941-64A6B7E22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CC19B8-715B-162A-1AA0-49324DAA6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0F4A-7015-44BB-82E0-936A04E30DB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20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92357-9599-2FD4-4622-A520C60C7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BDAF94-21A0-21B6-85A1-00239B545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0DE8B4-7829-270C-53AE-956CB6A0F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C943E2-A68E-9409-3795-817DE4BD8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0BBD-158F-4C2F-B47A-3E5B711E87AF}" type="datetimeFigureOut">
              <a:rPr lang="es-AR" smtClean="0"/>
              <a:t>1/10/2026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1C3BA6-8452-E496-986E-CCED4EA0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65153F-16A1-3714-F0D1-2FCCF53F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0F4A-7015-44BB-82E0-936A04E30DB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2705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FD44C-113C-7CDB-7878-9898DCB5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C88FB1-4F47-0AE0-A1FF-0E83DC77F98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C7BBDD-04C6-276F-D5E8-A87949CF9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F817A2-2E88-9F9A-1CED-2E815961D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0BBD-158F-4C2F-B47A-3E5B711E87AF}" type="datetimeFigureOut">
              <a:rPr lang="es-AR" smtClean="0"/>
              <a:t>1/10/2026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DFD886-81F9-53AF-41EA-314C074C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62C9E9-A1E1-30A0-9C59-D9D36F98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0F4A-7015-44BB-82E0-936A04E30DB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35130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8AAB0-7544-D395-7D6D-738070D3F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F84EC83-7E45-5148-D4CC-7B306C217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FD80D0-FB54-F6EE-8010-9BDB431B1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0BBD-158F-4C2F-B47A-3E5B711E87AF}" type="datetimeFigureOut">
              <a:rPr lang="es-AR" smtClean="0"/>
              <a:t>1/10/2026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C6F098-C71E-30AE-8B9C-F8CBF5CA5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C51248-F870-A1BD-074A-BC2E8A7B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0F4A-7015-44BB-82E0-936A04E30DB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592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46FC4C-D925-CA39-DE9F-8D5060A8F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80281D-A58A-D46E-61E3-DC096DC6C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2E15E4-4C65-7089-0752-F7DDF46D5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0BBD-158F-4C2F-B47A-3E5B711E87AF}" type="datetimeFigureOut">
              <a:rPr lang="es-AR" smtClean="0"/>
              <a:t>1/10/2026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85A1E8-04BD-A157-DD21-2FA637338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768662-A06F-5CDA-6BD2-8A3F16F60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40F4A-7015-44BB-82E0-936A04E30DB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8797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C669AF6-EB75-8AF7-B422-31B2A4504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F8B783-FB8C-4E01-524A-A01FFC868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D6C3DC-739B-A9C3-0F72-0999A71AD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70BBD-158F-4C2F-B47A-3E5B711E87AF}" type="datetimeFigureOut">
              <a:rPr lang="es-AR" smtClean="0"/>
              <a:t>1/10/2026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42F348-09A0-0C17-0B13-D44E3159D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71014C-ABFA-4273-633E-4524BF4B8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40F4A-7015-44BB-82E0-936A04E30DB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558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A8114-FC1D-6945-3829-D343A89F5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55" y="1122363"/>
            <a:ext cx="10559845" cy="2387600"/>
          </a:xfrm>
        </p:spPr>
        <p:txBody>
          <a:bodyPr/>
          <a:lstStyle/>
          <a:p>
            <a:pPr algn="l"/>
            <a:r>
              <a:rPr lang="es-AR" dirty="0"/>
              <a:t>TURNERO </a:t>
            </a:r>
            <a:r>
              <a:rPr lang="es-AR" b="1" dirty="0"/>
              <a:t>DIGITAL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305F05-553A-5B4C-AC31-8B1AABB76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155" y="3602038"/>
            <a:ext cx="10559845" cy="1655762"/>
          </a:xfrm>
        </p:spPr>
        <p:txBody>
          <a:bodyPr/>
          <a:lstStyle/>
          <a:p>
            <a:pPr algn="l"/>
            <a:r>
              <a:rPr lang="es-AR" dirty="0"/>
              <a:t>Propuesta de gestión de atención en sucursal</a:t>
            </a:r>
          </a:p>
        </p:txBody>
      </p:sp>
      <p:sp>
        <p:nvSpPr>
          <p:cNvPr id="18" name="Diagrama de flujo: proceso 17">
            <a:extLst>
              <a:ext uri="{FF2B5EF4-FFF2-40B4-BE49-F238E27FC236}">
                <a16:creationId xmlns:a16="http://schemas.microsoft.com/office/drawing/2014/main" id="{F15E697F-042B-23B4-DFC0-1E2D37A9BF15}"/>
              </a:ext>
            </a:extLst>
          </p:cNvPr>
          <p:cNvSpPr/>
          <p:nvPr/>
        </p:nvSpPr>
        <p:spPr>
          <a:xfrm>
            <a:off x="0" y="1"/>
            <a:ext cx="108155" cy="6858000"/>
          </a:xfrm>
          <a:prstGeom prst="flowChartProcess">
            <a:avLst/>
          </a:prstGeom>
          <a:solidFill>
            <a:srgbClr val="FDD500"/>
          </a:solidFill>
          <a:ln>
            <a:solidFill>
              <a:srgbClr val="FDD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A22BBF6-B93C-15BD-B2D2-7B3048153CBF}"/>
              </a:ext>
            </a:extLst>
          </p:cNvPr>
          <p:cNvSpPr txBox="1">
            <a:spLocks/>
          </p:cNvSpPr>
          <p:nvPr/>
        </p:nvSpPr>
        <p:spPr>
          <a:xfrm rot="16200000">
            <a:off x="9589159" y="4255159"/>
            <a:ext cx="4886631" cy="3190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DD500"/>
              </a:buClr>
            </a:pPr>
            <a:r>
              <a:rPr lang="es-AR" sz="1200" b="0" i="1" dirty="0">
                <a:solidFill>
                  <a:srgbClr val="666666"/>
                </a:solidFill>
              </a:rPr>
              <a:t>Orden, visibilidad y trazabilidad operativa.</a:t>
            </a:r>
          </a:p>
        </p:txBody>
      </p:sp>
    </p:spTree>
    <p:extLst>
      <p:ext uri="{BB962C8B-B14F-4D97-AF65-F5344CB8AC3E}">
        <p14:creationId xmlns:p14="http://schemas.microsoft.com/office/powerpoint/2010/main" val="88915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C4674-F0D1-D75C-1573-55495CBB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3600" dirty="0"/>
              <a:t>1. Problema que busca resolver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2CF92F-28FD-C775-FAAA-7E825DDC6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AR" sz="2800" dirty="0"/>
              <a:t>Situación a ordenar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FA96BE-BF05-0685-F606-050DCABD5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972935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buClr>
                <a:srgbClr val="FDD500"/>
              </a:buClr>
            </a:pPr>
            <a:r>
              <a:rPr lang="es-AR" sz="2400" dirty="0"/>
              <a:t>Clientes que llegan con necesidades distintas.</a:t>
            </a:r>
          </a:p>
          <a:p>
            <a:pPr>
              <a:buClr>
                <a:srgbClr val="FDD500"/>
              </a:buClr>
            </a:pPr>
            <a:r>
              <a:rPr lang="es-AR" sz="2400" dirty="0"/>
              <a:t>Necesidad de ordenar quien espera y quien está siendo atendido.</a:t>
            </a:r>
          </a:p>
          <a:p>
            <a:pPr>
              <a:buClr>
                <a:srgbClr val="FDD500"/>
              </a:buClr>
            </a:pPr>
            <a:r>
              <a:rPr lang="es-AR" sz="2400" dirty="0"/>
              <a:t>Visibilidad del turno para el cliente.</a:t>
            </a:r>
          </a:p>
          <a:p>
            <a:pPr>
              <a:buClr>
                <a:srgbClr val="FDD500"/>
              </a:buClr>
            </a:pPr>
            <a:r>
              <a:rPr lang="es-AR" sz="2400" dirty="0"/>
              <a:t>Registro de lo ocurrido.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BE040C-2113-26F1-DD33-E152205F6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AR" sz="2800" dirty="0"/>
              <a:t>Objetivo del proyecto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94C601-72E6-097E-0000-F7B1C8FA2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2972935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dirty="0"/>
              <a:t>Transformar la llegada en un flujo simple y trazable:</a:t>
            </a:r>
          </a:p>
          <a:p>
            <a:pPr marL="514350" indent="-514350">
              <a:buClr>
                <a:srgbClr val="FDD500"/>
              </a:buClr>
              <a:buFont typeface="+mj-lt"/>
              <a:buAutoNum type="arabicPeriod"/>
            </a:pPr>
            <a:r>
              <a:rPr lang="es-AR" sz="2400" dirty="0"/>
              <a:t>El cliente se registra.</a:t>
            </a:r>
          </a:p>
          <a:p>
            <a:pPr marL="514350" indent="-514350">
              <a:buClr>
                <a:srgbClr val="FDD500"/>
              </a:buClr>
              <a:buFont typeface="+mj-lt"/>
              <a:buAutoNum type="arabicPeriod"/>
            </a:pPr>
            <a:r>
              <a:rPr lang="es-AR" sz="2400" dirty="0"/>
              <a:t>Se le asigna un turno.</a:t>
            </a:r>
          </a:p>
          <a:p>
            <a:pPr marL="514350" indent="-514350">
              <a:buClr>
                <a:srgbClr val="FDD500"/>
              </a:buClr>
              <a:buFont typeface="+mj-lt"/>
              <a:buAutoNum type="arabicPeriod"/>
            </a:pPr>
            <a:r>
              <a:rPr lang="es-AR" sz="2400" dirty="0"/>
              <a:t>Un puesto lo llama.</a:t>
            </a:r>
          </a:p>
          <a:p>
            <a:pPr marL="514350" indent="-514350">
              <a:buClr>
                <a:srgbClr val="FDD500"/>
              </a:buClr>
              <a:buFont typeface="+mj-lt"/>
              <a:buAutoNum type="arabicPeriod"/>
            </a:pPr>
            <a:r>
              <a:rPr lang="es-AR" sz="2400" dirty="0"/>
              <a:t>Se finaliza y queda registrado.</a:t>
            </a:r>
          </a:p>
        </p:txBody>
      </p:sp>
      <p:sp>
        <p:nvSpPr>
          <p:cNvPr id="8" name="Diagrama de flujo: proceso 7">
            <a:extLst>
              <a:ext uri="{FF2B5EF4-FFF2-40B4-BE49-F238E27FC236}">
                <a16:creationId xmlns:a16="http://schemas.microsoft.com/office/drawing/2014/main" id="{A678C09D-E99E-4F4C-4848-DE6D33D90A2D}"/>
              </a:ext>
            </a:extLst>
          </p:cNvPr>
          <p:cNvSpPr/>
          <p:nvPr/>
        </p:nvSpPr>
        <p:spPr>
          <a:xfrm>
            <a:off x="0" y="1"/>
            <a:ext cx="108155" cy="6858000"/>
          </a:xfrm>
          <a:prstGeom prst="flowChartProcess">
            <a:avLst/>
          </a:prstGeom>
          <a:solidFill>
            <a:srgbClr val="FDD500"/>
          </a:solidFill>
          <a:ln>
            <a:solidFill>
              <a:srgbClr val="FDD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Diagrama de flujo: proceso 9">
            <a:extLst>
              <a:ext uri="{FF2B5EF4-FFF2-40B4-BE49-F238E27FC236}">
                <a16:creationId xmlns:a16="http://schemas.microsoft.com/office/drawing/2014/main" id="{AAF3A46E-6561-70BE-B0C1-5B2643333D78}"/>
              </a:ext>
            </a:extLst>
          </p:cNvPr>
          <p:cNvSpPr/>
          <p:nvPr/>
        </p:nvSpPr>
        <p:spPr>
          <a:xfrm>
            <a:off x="1" y="1379990"/>
            <a:ext cx="6095999" cy="108000"/>
          </a:xfrm>
          <a:prstGeom prst="flowChartProcess">
            <a:avLst/>
          </a:prstGeom>
          <a:solidFill>
            <a:srgbClr val="FDD500"/>
          </a:solidFill>
          <a:ln>
            <a:solidFill>
              <a:srgbClr val="FDD500">
                <a:alpha val="9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59F83C0-DA5F-BDF8-7A08-C6120B6E5C32}"/>
              </a:ext>
            </a:extLst>
          </p:cNvPr>
          <p:cNvSpPr/>
          <p:nvPr/>
        </p:nvSpPr>
        <p:spPr>
          <a:xfrm>
            <a:off x="545148" y="5989955"/>
            <a:ext cx="1800000" cy="497840"/>
          </a:xfrm>
          <a:prstGeom prst="roundRect">
            <a:avLst/>
          </a:prstGeom>
          <a:solidFill>
            <a:schemeClr val="bg1"/>
          </a:solidFill>
          <a:ln>
            <a:solidFill>
              <a:srgbClr val="66666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LLEGADA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A998C6EA-75A6-7E38-CA9B-78DA59302208}"/>
              </a:ext>
            </a:extLst>
          </p:cNvPr>
          <p:cNvSpPr/>
          <p:nvPr/>
        </p:nvSpPr>
        <p:spPr>
          <a:xfrm>
            <a:off x="9813907" y="5995035"/>
            <a:ext cx="1800000" cy="497840"/>
          </a:xfrm>
          <a:prstGeom prst="roundRect">
            <a:avLst/>
          </a:prstGeom>
          <a:solidFill>
            <a:schemeClr val="bg1"/>
          </a:solidFill>
          <a:ln>
            <a:solidFill>
              <a:srgbClr val="66666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HISTORIAL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5302F4BF-93E4-D4F0-BB6D-1131A1F5DE4E}"/>
              </a:ext>
            </a:extLst>
          </p:cNvPr>
          <p:cNvSpPr/>
          <p:nvPr/>
        </p:nvSpPr>
        <p:spPr>
          <a:xfrm>
            <a:off x="6723511" y="5995035"/>
            <a:ext cx="1800000" cy="497840"/>
          </a:xfrm>
          <a:prstGeom prst="roundRect">
            <a:avLst/>
          </a:prstGeom>
          <a:solidFill>
            <a:schemeClr val="bg1"/>
          </a:solidFill>
          <a:ln>
            <a:solidFill>
              <a:srgbClr val="66666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ATENCIÓN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5DB8969A-0BBE-3036-32B3-ED2A14EC7DEA}"/>
              </a:ext>
            </a:extLst>
          </p:cNvPr>
          <p:cNvSpPr/>
          <p:nvPr/>
        </p:nvSpPr>
        <p:spPr>
          <a:xfrm>
            <a:off x="3633116" y="5995035"/>
            <a:ext cx="1800000" cy="497840"/>
          </a:xfrm>
          <a:prstGeom prst="roundRect">
            <a:avLst/>
          </a:prstGeom>
          <a:solidFill>
            <a:schemeClr val="bg1"/>
          </a:solidFill>
          <a:ln>
            <a:solidFill>
              <a:srgbClr val="66666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TURNO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56BFA8A2-8D27-DF7C-B4A6-398C4CEC339A}"/>
              </a:ext>
            </a:extLst>
          </p:cNvPr>
          <p:cNvCxnSpPr>
            <a:cxnSpLocks/>
          </p:cNvCxnSpPr>
          <p:nvPr/>
        </p:nvCxnSpPr>
        <p:spPr>
          <a:xfrm>
            <a:off x="2342720" y="6238875"/>
            <a:ext cx="1287968" cy="5080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7C4C7C42-7FE9-CB73-835A-10CD629AE1E4}"/>
              </a:ext>
            </a:extLst>
          </p:cNvPr>
          <p:cNvCxnSpPr>
            <a:cxnSpLocks/>
          </p:cNvCxnSpPr>
          <p:nvPr/>
        </p:nvCxnSpPr>
        <p:spPr>
          <a:xfrm>
            <a:off x="5433115" y="6238875"/>
            <a:ext cx="1287968" cy="5080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D090E71E-30EF-A18A-A0C9-ED1BED989623}"/>
              </a:ext>
            </a:extLst>
          </p:cNvPr>
          <p:cNvCxnSpPr>
            <a:cxnSpLocks/>
          </p:cNvCxnSpPr>
          <p:nvPr/>
        </p:nvCxnSpPr>
        <p:spPr>
          <a:xfrm>
            <a:off x="5430687" y="6238875"/>
            <a:ext cx="1287968" cy="5080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9EBB640A-16AD-453D-5C6D-F9BE2C1FDDA4}"/>
              </a:ext>
            </a:extLst>
          </p:cNvPr>
          <p:cNvCxnSpPr>
            <a:cxnSpLocks/>
          </p:cNvCxnSpPr>
          <p:nvPr/>
        </p:nvCxnSpPr>
        <p:spPr>
          <a:xfrm>
            <a:off x="8525938" y="6236335"/>
            <a:ext cx="1287968" cy="5080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925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A2358-F208-1AB9-39D1-8CCFBC625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D582F-82F6-E18B-FFC4-4161AF661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3600" dirty="0"/>
              <a:t>2. Experiencia del cliente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97446CF-2BCF-A73C-62E1-095D048A9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AR" sz="2800" dirty="0"/>
              <a:t>Objetivo del proyecto</a:t>
            </a:r>
          </a:p>
        </p:txBody>
      </p:sp>
      <p:sp>
        <p:nvSpPr>
          <p:cNvPr id="8" name="Diagrama de flujo: proceso 7">
            <a:extLst>
              <a:ext uri="{FF2B5EF4-FFF2-40B4-BE49-F238E27FC236}">
                <a16:creationId xmlns:a16="http://schemas.microsoft.com/office/drawing/2014/main" id="{EB770DE6-8205-3505-1086-97F2E4A9D6B4}"/>
              </a:ext>
            </a:extLst>
          </p:cNvPr>
          <p:cNvSpPr/>
          <p:nvPr/>
        </p:nvSpPr>
        <p:spPr>
          <a:xfrm>
            <a:off x="0" y="1"/>
            <a:ext cx="108155" cy="6858000"/>
          </a:xfrm>
          <a:prstGeom prst="flowChartProcess">
            <a:avLst/>
          </a:prstGeom>
          <a:solidFill>
            <a:srgbClr val="FDD500"/>
          </a:solidFill>
          <a:ln>
            <a:solidFill>
              <a:srgbClr val="FDD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Diagrama de flujo: proceso 9">
            <a:extLst>
              <a:ext uri="{FF2B5EF4-FFF2-40B4-BE49-F238E27FC236}">
                <a16:creationId xmlns:a16="http://schemas.microsoft.com/office/drawing/2014/main" id="{8B137717-2766-CA9F-CFDA-D0F924FABB50}"/>
              </a:ext>
            </a:extLst>
          </p:cNvPr>
          <p:cNvSpPr/>
          <p:nvPr/>
        </p:nvSpPr>
        <p:spPr>
          <a:xfrm>
            <a:off x="1" y="1379990"/>
            <a:ext cx="6095999" cy="108000"/>
          </a:xfrm>
          <a:prstGeom prst="flowChartProcess">
            <a:avLst/>
          </a:prstGeom>
          <a:solidFill>
            <a:srgbClr val="FDD500"/>
          </a:solidFill>
          <a:ln>
            <a:solidFill>
              <a:srgbClr val="FDD500">
                <a:alpha val="9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BDA7195F-4F0F-A1F4-F313-E367947D6AFA}"/>
              </a:ext>
            </a:extLst>
          </p:cNvPr>
          <p:cNvSpPr txBox="1">
            <a:spLocks/>
          </p:cNvSpPr>
          <p:nvPr/>
        </p:nvSpPr>
        <p:spPr>
          <a:xfrm>
            <a:off x="175651" y="1690688"/>
            <a:ext cx="4828967" cy="1325563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El kiosco presenta únicamente las dos alternativas necesarias para iniciar el proceso.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2BD5FC9-5436-08A7-5C09-64EAA1950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842" y="1681163"/>
            <a:ext cx="6878507" cy="38691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1B3F9A84-A695-E5A4-0E19-01F3AFE6F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110" y="3218949"/>
            <a:ext cx="3826986" cy="21526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6E1AA62A-4DDF-0EE1-E754-EB85E0BFD7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4349" y="4534762"/>
            <a:ext cx="3826986" cy="21526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79400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47450-7E2F-7906-FE93-BF92ADDD7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720D2-179D-EC56-9289-E18DD7EF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3600" dirty="0"/>
              <a:t>3. Generación y gestión del turno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B09950-572C-8257-CB77-4AE51248F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AR" sz="2800" dirty="0"/>
              <a:t>¿Qué son?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F201AB-1AC1-2538-EAF3-4DDABB8CF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972935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indent="0">
              <a:buClr>
                <a:srgbClr val="FDD500"/>
              </a:buClr>
              <a:buNone/>
            </a:pPr>
            <a:r>
              <a:rPr lang="es-AR" sz="2400" dirty="0"/>
              <a:t>Los turnos se identifican por </a:t>
            </a:r>
            <a:r>
              <a:rPr lang="es-AR" sz="2400" b="1" dirty="0"/>
              <a:t>tipo</a:t>
            </a:r>
            <a:r>
              <a:rPr lang="es-AR" sz="2400" dirty="0"/>
              <a:t> y </a:t>
            </a:r>
            <a:r>
              <a:rPr lang="es-AR" sz="2400" b="1" dirty="0"/>
              <a:t>numeración correlativa </a:t>
            </a:r>
            <a:r>
              <a:rPr lang="es-AR" sz="2400" dirty="0"/>
              <a:t>del día.</a:t>
            </a:r>
          </a:p>
          <a:p>
            <a:pPr marL="0" indent="0">
              <a:buClr>
                <a:srgbClr val="FDD500"/>
              </a:buClr>
              <a:buNone/>
            </a:pPr>
            <a:endParaRPr lang="es-AR" sz="2400" dirty="0"/>
          </a:p>
          <a:p>
            <a:pPr marL="0" indent="0">
              <a:buClr>
                <a:srgbClr val="FDD500"/>
              </a:buClr>
              <a:buNone/>
            </a:pPr>
            <a:r>
              <a:rPr lang="es-AR" sz="2400" dirty="0"/>
              <a:t>Esta numeración se consulta </a:t>
            </a:r>
            <a:r>
              <a:rPr lang="es-AR" sz="2400" u="sng" dirty="0"/>
              <a:t>antes</a:t>
            </a:r>
            <a:r>
              <a:rPr lang="es-AR" sz="2400" dirty="0"/>
              <a:t> de generarse el siguiente turno.</a:t>
            </a:r>
          </a:p>
        </p:txBody>
      </p:sp>
      <p:sp>
        <p:nvSpPr>
          <p:cNvPr id="8" name="Diagrama de flujo: proceso 7">
            <a:extLst>
              <a:ext uri="{FF2B5EF4-FFF2-40B4-BE49-F238E27FC236}">
                <a16:creationId xmlns:a16="http://schemas.microsoft.com/office/drawing/2014/main" id="{0B78B02C-3FC1-9DD9-47E8-948C3DE619CF}"/>
              </a:ext>
            </a:extLst>
          </p:cNvPr>
          <p:cNvSpPr/>
          <p:nvPr/>
        </p:nvSpPr>
        <p:spPr>
          <a:xfrm>
            <a:off x="0" y="1"/>
            <a:ext cx="108155" cy="6858000"/>
          </a:xfrm>
          <a:prstGeom prst="flowChartProcess">
            <a:avLst/>
          </a:prstGeom>
          <a:solidFill>
            <a:srgbClr val="FDD500"/>
          </a:solidFill>
          <a:ln>
            <a:solidFill>
              <a:srgbClr val="FDD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Diagrama de flujo: proceso 9">
            <a:extLst>
              <a:ext uri="{FF2B5EF4-FFF2-40B4-BE49-F238E27FC236}">
                <a16:creationId xmlns:a16="http://schemas.microsoft.com/office/drawing/2014/main" id="{DD198778-AE1A-D9EF-AF3F-8D2E4C25103E}"/>
              </a:ext>
            </a:extLst>
          </p:cNvPr>
          <p:cNvSpPr/>
          <p:nvPr/>
        </p:nvSpPr>
        <p:spPr>
          <a:xfrm>
            <a:off x="1" y="1379990"/>
            <a:ext cx="6095999" cy="108000"/>
          </a:xfrm>
          <a:prstGeom prst="flowChartProcess">
            <a:avLst/>
          </a:prstGeom>
          <a:solidFill>
            <a:srgbClr val="FDD500"/>
          </a:solidFill>
          <a:ln>
            <a:solidFill>
              <a:srgbClr val="FDD500">
                <a:alpha val="9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B65D316B-BBD4-A59E-F3B3-EFC1FF879CB0}"/>
              </a:ext>
            </a:extLst>
          </p:cNvPr>
          <p:cNvGrpSpPr/>
          <p:nvPr/>
        </p:nvGrpSpPr>
        <p:grpSpPr>
          <a:xfrm>
            <a:off x="6169024" y="1930901"/>
            <a:ext cx="5183188" cy="1747837"/>
            <a:chOff x="6194427" y="1681162"/>
            <a:chExt cx="5183188" cy="1747837"/>
          </a:xfrm>
        </p:grpSpPr>
        <p:sp>
          <p:nvSpPr>
            <p:cNvPr id="15" name="Marcador de contenido 5">
              <a:extLst>
                <a:ext uri="{FF2B5EF4-FFF2-40B4-BE49-F238E27FC236}">
                  <a16:creationId xmlns:a16="http://schemas.microsoft.com/office/drawing/2014/main" id="{B519A346-40C0-C8BD-4593-13F6E4C9650F}"/>
                </a:ext>
              </a:extLst>
            </p:cNvPr>
            <p:cNvSpPr txBox="1">
              <a:spLocks/>
            </p:cNvSpPr>
            <p:nvPr/>
          </p:nvSpPr>
          <p:spPr>
            <a:xfrm>
              <a:off x="6194427" y="1991862"/>
              <a:ext cx="5183188" cy="1135966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numCol="1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endParaRPr lang="es-AR" sz="2400" dirty="0"/>
            </a:p>
          </p:txBody>
        </p:sp>
        <p:sp>
          <p:nvSpPr>
            <p:cNvPr id="12" name="Marcador de contenido 5">
              <a:extLst>
                <a:ext uri="{FF2B5EF4-FFF2-40B4-BE49-F238E27FC236}">
                  <a16:creationId xmlns:a16="http://schemas.microsoft.com/office/drawing/2014/main" id="{013BB042-63C0-36F5-6620-52AD0F7A03AF}"/>
                </a:ext>
              </a:extLst>
            </p:cNvPr>
            <p:cNvSpPr txBox="1">
              <a:spLocks/>
            </p:cNvSpPr>
            <p:nvPr/>
          </p:nvSpPr>
          <p:spPr>
            <a:xfrm>
              <a:off x="7167673" y="1681162"/>
              <a:ext cx="4209941" cy="174783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numCol="1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s-AR" sz="2400" b="1" dirty="0"/>
                <a:t>Reserva</a:t>
              </a:r>
              <a:br>
                <a:rPr lang="es-AR" sz="2400" dirty="0"/>
              </a:br>
              <a:r>
                <a:rPr lang="es-AR" sz="2000" i="1" dirty="0">
                  <a:solidFill>
                    <a:srgbClr val="666666"/>
                  </a:solidFill>
                </a:rPr>
                <a:t>Ejemplo: R-004</a:t>
              </a:r>
              <a:r>
                <a:rPr lang="es-AR" sz="2400" dirty="0"/>
                <a:t>	</a:t>
              </a: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42FE7BDE-767C-993E-8721-2B024191EA47}"/>
                </a:ext>
              </a:extLst>
            </p:cNvPr>
            <p:cNvSpPr/>
            <p:nvPr/>
          </p:nvSpPr>
          <p:spPr>
            <a:xfrm>
              <a:off x="6290741" y="2147887"/>
              <a:ext cx="876933" cy="823912"/>
            </a:xfrm>
            <a:prstGeom prst="roundRect">
              <a:avLst/>
            </a:prstGeom>
            <a:solidFill>
              <a:schemeClr val="tx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4000" b="1" dirty="0">
                  <a:solidFill>
                    <a:srgbClr val="FDD500"/>
                  </a:solidFill>
                </a:rPr>
                <a:t>R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FEB5277F-102B-98AC-134D-5A8E0A8D794D}"/>
              </a:ext>
            </a:extLst>
          </p:cNvPr>
          <p:cNvGrpSpPr/>
          <p:nvPr/>
        </p:nvGrpSpPr>
        <p:grpSpPr>
          <a:xfrm>
            <a:off x="6169024" y="3212013"/>
            <a:ext cx="5183188" cy="1747837"/>
            <a:chOff x="6194427" y="3730173"/>
            <a:chExt cx="5183188" cy="1747837"/>
          </a:xfrm>
        </p:grpSpPr>
        <p:sp>
          <p:nvSpPr>
            <p:cNvPr id="19" name="Marcador de contenido 5">
              <a:extLst>
                <a:ext uri="{FF2B5EF4-FFF2-40B4-BE49-F238E27FC236}">
                  <a16:creationId xmlns:a16="http://schemas.microsoft.com/office/drawing/2014/main" id="{4BCA0AD1-621C-2273-48B8-C4010C6A92A6}"/>
                </a:ext>
              </a:extLst>
            </p:cNvPr>
            <p:cNvSpPr txBox="1">
              <a:spLocks/>
            </p:cNvSpPr>
            <p:nvPr/>
          </p:nvSpPr>
          <p:spPr>
            <a:xfrm>
              <a:off x="6194427" y="4043681"/>
              <a:ext cx="5183188" cy="1133158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numCol="1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endParaRPr lang="es-AR" sz="2400" dirty="0"/>
            </a:p>
          </p:txBody>
        </p:sp>
        <p:sp>
          <p:nvSpPr>
            <p:cNvPr id="21" name="Marcador de contenido 5">
              <a:extLst>
                <a:ext uri="{FF2B5EF4-FFF2-40B4-BE49-F238E27FC236}">
                  <a16:creationId xmlns:a16="http://schemas.microsoft.com/office/drawing/2014/main" id="{EFFE14B5-A034-C538-1279-2AD8B0ED2BBB}"/>
                </a:ext>
              </a:extLst>
            </p:cNvPr>
            <p:cNvSpPr txBox="1">
              <a:spLocks/>
            </p:cNvSpPr>
            <p:nvPr/>
          </p:nvSpPr>
          <p:spPr>
            <a:xfrm>
              <a:off x="7167673" y="3730173"/>
              <a:ext cx="4209941" cy="174783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numCol="1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s-AR" sz="2400" b="1" dirty="0"/>
                <a:t>Cotización</a:t>
              </a:r>
              <a:br>
                <a:rPr lang="es-AR" sz="2400" dirty="0"/>
              </a:br>
              <a:r>
                <a:rPr lang="es-AR" sz="2000" i="1" dirty="0">
                  <a:solidFill>
                    <a:srgbClr val="666666"/>
                  </a:solidFill>
                </a:rPr>
                <a:t>Ejemplo: C-003</a:t>
              </a:r>
              <a:r>
                <a:rPr lang="es-AR" sz="2400" dirty="0"/>
                <a:t>	</a:t>
              </a:r>
            </a:p>
          </p:txBody>
        </p:sp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02E938E0-3878-659E-7A0E-0E0E11E29078}"/>
                </a:ext>
              </a:extLst>
            </p:cNvPr>
            <p:cNvSpPr/>
            <p:nvPr/>
          </p:nvSpPr>
          <p:spPr>
            <a:xfrm>
              <a:off x="6290741" y="4196898"/>
              <a:ext cx="876933" cy="823912"/>
            </a:xfrm>
            <a:prstGeom prst="roundRect">
              <a:avLst/>
            </a:prstGeom>
            <a:solidFill>
              <a:schemeClr val="tx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4000" b="1" dirty="0">
                  <a:solidFill>
                    <a:srgbClr val="FDD500"/>
                  </a:solidFill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7931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2404-BDBB-A8D0-7225-6B01555A5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8958F-B167-C716-B0A1-2CD8D8764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3600" dirty="0"/>
              <a:t>4. Panel del asesor de ventas</a:t>
            </a:r>
          </a:p>
        </p:txBody>
      </p:sp>
      <p:sp>
        <p:nvSpPr>
          <p:cNvPr id="8" name="Diagrama de flujo: proceso 7">
            <a:extLst>
              <a:ext uri="{FF2B5EF4-FFF2-40B4-BE49-F238E27FC236}">
                <a16:creationId xmlns:a16="http://schemas.microsoft.com/office/drawing/2014/main" id="{14AA4156-9B2B-9B39-0602-30AD49B29156}"/>
              </a:ext>
            </a:extLst>
          </p:cNvPr>
          <p:cNvSpPr/>
          <p:nvPr/>
        </p:nvSpPr>
        <p:spPr>
          <a:xfrm>
            <a:off x="0" y="1"/>
            <a:ext cx="108155" cy="6858000"/>
          </a:xfrm>
          <a:prstGeom prst="flowChartProcess">
            <a:avLst/>
          </a:prstGeom>
          <a:solidFill>
            <a:srgbClr val="FDD500"/>
          </a:solidFill>
          <a:ln>
            <a:solidFill>
              <a:srgbClr val="FDD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Diagrama de flujo: proceso 9">
            <a:extLst>
              <a:ext uri="{FF2B5EF4-FFF2-40B4-BE49-F238E27FC236}">
                <a16:creationId xmlns:a16="http://schemas.microsoft.com/office/drawing/2014/main" id="{1D5213B5-3757-E8FB-819D-8D025911ECF7}"/>
              </a:ext>
            </a:extLst>
          </p:cNvPr>
          <p:cNvSpPr/>
          <p:nvPr/>
        </p:nvSpPr>
        <p:spPr>
          <a:xfrm>
            <a:off x="1" y="1379990"/>
            <a:ext cx="6095999" cy="108000"/>
          </a:xfrm>
          <a:prstGeom prst="flowChartProcess">
            <a:avLst/>
          </a:prstGeom>
          <a:solidFill>
            <a:srgbClr val="FDD500"/>
          </a:solidFill>
          <a:ln>
            <a:solidFill>
              <a:srgbClr val="FDD500">
                <a:alpha val="9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A383BEE9-C1AC-F7A3-E66C-16578EEECE85}"/>
              </a:ext>
            </a:extLst>
          </p:cNvPr>
          <p:cNvSpPr/>
          <p:nvPr/>
        </p:nvSpPr>
        <p:spPr>
          <a:xfrm>
            <a:off x="8824684" y="5979320"/>
            <a:ext cx="2918329" cy="497840"/>
          </a:xfrm>
          <a:prstGeom prst="roundRect">
            <a:avLst/>
          </a:prstGeom>
          <a:solidFill>
            <a:schemeClr val="bg1"/>
          </a:solidFill>
          <a:ln>
            <a:solidFill>
              <a:srgbClr val="66666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REPITE TRAS FINALIZAR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E5EE8A16-0D41-80D5-3A7A-5E4812987B4F}"/>
              </a:ext>
            </a:extLst>
          </p:cNvPr>
          <p:cNvCxnSpPr>
            <a:cxnSpLocks/>
            <a:stCxn id="34" idx="3"/>
            <a:endCxn id="36" idx="1"/>
          </p:cNvCxnSpPr>
          <p:nvPr/>
        </p:nvCxnSpPr>
        <p:spPr>
          <a:xfrm>
            <a:off x="3367316" y="6226652"/>
            <a:ext cx="1269519" cy="0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4587528-93F8-4082-E573-95987A0ED54E}"/>
              </a:ext>
            </a:extLst>
          </p:cNvPr>
          <p:cNvCxnSpPr>
            <a:cxnSpLocks/>
            <a:stCxn id="36" idx="3"/>
            <a:endCxn id="27" idx="1"/>
          </p:cNvCxnSpPr>
          <p:nvPr/>
        </p:nvCxnSpPr>
        <p:spPr>
          <a:xfrm>
            <a:off x="7555164" y="6226652"/>
            <a:ext cx="1269520" cy="1588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28A663A4-BA6D-0226-04FE-06CCAA91A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621863"/>
            <a:ext cx="10512424" cy="497841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rgbClr val="FDD500"/>
              </a:buClr>
            </a:pPr>
            <a:r>
              <a:rPr lang="es-AR" b="0" dirty="0"/>
              <a:t>Cada puesto visualiza los turnos pendientes y controla su atención activa.</a:t>
            </a:r>
          </a:p>
        </p:txBody>
      </p:sp>
      <p:pic>
        <p:nvPicPr>
          <p:cNvPr id="23" name="Marcador de contenido 22">
            <a:extLst>
              <a:ext uri="{FF2B5EF4-FFF2-40B4-BE49-F238E27FC236}">
                <a16:creationId xmlns:a16="http://schemas.microsoft.com/office/drawing/2014/main" id="{BFDB7518-1225-CDD6-4D04-2B56983D9F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50" y="2319923"/>
            <a:ext cx="5480726" cy="30829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6" name="Marcador de contenido 25">
            <a:extLst>
              <a:ext uri="{FF2B5EF4-FFF2-40B4-BE49-F238E27FC236}">
                <a16:creationId xmlns:a16="http://schemas.microsoft.com/office/drawing/2014/main" id="{8AF70791-E226-1930-9CF6-DD4FDD61D89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05552"/>
            <a:ext cx="5502950" cy="30900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AFC5C0DC-FD18-0DCB-91BF-36EDDFA87C08}"/>
              </a:ext>
            </a:extLst>
          </p:cNvPr>
          <p:cNvSpPr/>
          <p:nvPr/>
        </p:nvSpPr>
        <p:spPr>
          <a:xfrm>
            <a:off x="448987" y="5977732"/>
            <a:ext cx="2918329" cy="497840"/>
          </a:xfrm>
          <a:prstGeom prst="roundRect">
            <a:avLst/>
          </a:prstGeom>
          <a:solidFill>
            <a:schemeClr val="bg1"/>
          </a:solidFill>
          <a:ln>
            <a:solidFill>
              <a:srgbClr val="66666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PUESTO DISPONIBLE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72F9DEBF-712E-FBAA-170A-5BEA260FEF5C}"/>
              </a:ext>
            </a:extLst>
          </p:cNvPr>
          <p:cNvSpPr/>
          <p:nvPr/>
        </p:nvSpPr>
        <p:spPr>
          <a:xfrm>
            <a:off x="4636835" y="5977732"/>
            <a:ext cx="2918329" cy="497840"/>
          </a:xfrm>
          <a:prstGeom prst="roundRect">
            <a:avLst/>
          </a:prstGeom>
          <a:solidFill>
            <a:schemeClr val="bg1"/>
          </a:solidFill>
          <a:ln>
            <a:solidFill>
              <a:srgbClr val="66666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TURNO EN ATENCIÓN</a:t>
            </a:r>
          </a:p>
        </p:txBody>
      </p:sp>
    </p:spTree>
    <p:extLst>
      <p:ext uri="{BB962C8B-B14F-4D97-AF65-F5344CB8AC3E}">
        <p14:creationId xmlns:p14="http://schemas.microsoft.com/office/powerpoint/2010/main" val="300960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629A6-17FF-97F7-F157-ED26BB10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7C1EE8-473C-0C99-FCA5-B78237473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3600" dirty="0"/>
              <a:t>5. Pantalla de llamados</a:t>
            </a:r>
          </a:p>
        </p:txBody>
      </p:sp>
      <p:sp>
        <p:nvSpPr>
          <p:cNvPr id="8" name="Diagrama de flujo: proceso 7">
            <a:extLst>
              <a:ext uri="{FF2B5EF4-FFF2-40B4-BE49-F238E27FC236}">
                <a16:creationId xmlns:a16="http://schemas.microsoft.com/office/drawing/2014/main" id="{8D47D475-91F6-E13F-415F-4AA74A4F395C}"/>
              </a:ext>
            </a:extLst>
          </p:cNvPr>
          <p:cNvSpPr/>
          <p:nvPr/>
        </p:nvSpPr>
        <p:spPr>
          <a:xfrm>
            <a:off x="0" y="1"/>
            <a:ext cx="108155" cy="6858000"/>
          </a:xfrm>
          <a:prstGeom prst="flowChartProcess">
            <a:avLst/>
          </a:prstGeom>
          <a:solidFill>
            <a:srgbClr val="FDD500"/>
          </a:solidFill>
          <a:ln>
            <a:solidFill>
              <a:srgbClr val="FDD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Diagrama de flujo: proceso 9">
            <a:extLst>
              <a:ext uri="{FF2B5EF4-FFF2-40B4-BE49-F238E27FC236}">
                <a16:creationId xmlns:a16="http://schemas.microsoft.com/office/drawing/2014/main" id="{BEDDB229-8EFB-3EE5-6D6E-CF55A8123CB6}"/>
              </a:ext>
            </a:extLst>
          </p:cNvPr>
          <p:cNvSpPr/>
          <p:nvPr/>
        </p:nvSpPr>
        <p:spPr>
          <a:xfrm>
            <a:off x="1" y="1379990"/>
            <a:ext cx="6095999" cy="108000"/>
          </a:xfrm>
          <a:prstGeom prst="flowChartProcess">
            <a:avLst/>
          </a:prstGeom>
          <a:solidFill>
            <a:srgbClr val="FDD500"/>
          </a:solidFill>
          <a:ln>
            <a:solidFill>
              <a:srgbClr val="FDD500">
                <a:alpha val="9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Marcador de texto 16">
            <a:extLst>
              <a:ext uri="{FF2B5EF4-FFF2-40B4-BE49-F238E27FC236}">
                <a16:creationId xmlns:a16="http://schemas.microsoft.com/office/drawing/2014/main" id="{7B252463-AD0F-C1F4-392C-7BBCC394A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762770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rgbClr val="FDD500"/>
              </a:buClr>
            </a:pPr>
            <a:r>
              <a:rPr lang="es-AR" b="0" dirty="0"/>
              <a:t>El cliente puede identificar qué turno está siendo atendido, así como los llamados recientes.</a:t>
            </a:r>
          </a:p>
        </p:txBody>
      </p:sp>
      <p:pic>
        <p:nvPicPr>
          <p:cNvPr id="23" name="Marcador de contenido 22">
            <a:extLst>
              <a:ext uri="{FF2B5EF4-FFF2-40B4-BE49-F238E27FC236}">
                <a16:creationId xmlns:a16="http://schemas.microsoft.com/office/drawing/2014/main" id="{CC4E892C-F4A8-B9EF-68B6-F454FC5D02C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7" y="2637106"/>
            <a:ext cx="6898199" cy="38557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42" name="Grupo 41">
            <a:extLst>
              <a:ext uri="{FF2B5EF4-FFF2-40B4-BE49-F238E27FC236}">
                <a16:creationId xmlns:a16="http://schemas.microsoft.com/office/drawing/2014/main" id="{04A54A7E-8EEC-827B-ED43-3BA52DDF1D02}"/>
              </a:ext>
            </a:extLst>
          </p:cNvPr>
          <p:cNvGrpSpPr/>
          <p:nvPr/>
        </p:nvGrpSpPr>
        <p:grpSpPr>
          <a:xfrm>
            <a:off x="8082115" y="3429000"/>
            <a:ext cx="3270097" cy="847519"/>
            <a:chOff x="8082115" y="3006726"/>
            <a:chExt cx="3270097" cy="847519"/>
          </a:xfrm>
        </p:grpSpPr>
        <p:sp>
          <p:nvSpPr>
            <p:cNvPr id="28" name="Marcador de texto 16">
              <a:extLst>
                <a:ext uri="{FF2B5EF4-FFF2-40B4-BE49-F238E27FC236}">
                  <a16:creationId xmlns:a16="http://schemas.microsoft.com/office/drawing/2014/main" id="{8461D567-0EE3-6F55-12DD-9B00F7AC112E}"/>
                </a:ext>
              </a:extLst>
            </p:cNvPr>
            <p:cNvSpPr txBox="1">
              <a:spLocks/>
            </p:cNvSpPr>
            <p:nvPr/>
          </p:nvSpPr>
          <p:spPr>
            <a:xfrm>
              <a:off x="8082115" y="3006726"/>
              <a:ext cx="3270097" cy="847519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rgbClr val="FDD500"/>
                </a:buClr>
              </a:pPr>
              <a:endParaRPr lang="es-AR" b="0" dirty="0"/>
            </a:p>
          </p:txBody>
        </p:sp>
        <p:sp>
          <p:nvSpPr>
            <p:cNvPr id="30" name="Botón de acción: Sonido 29">
              <a:hlinkClick r:id="" action="ppaction://noaction" highlightClick="1">
                <a:snd r:embed="rId3" name="applause.wav"/>
              </a:hlinkClick>
              <a:extLst>
                <a:ext uri="{FF2B5EF4-FFF2-40B4-BE49-F238E27FC236}">
                  <a16:creationId xmlns:a16="http://schemas.microsoft.com/office/drawing/2014/main" id="{207DE0AB-AF66-EB6C-DB65-915DEBD948D0}"/>
                </a:ext>
              </a:extLst>
            </p:cNvPr>
            <p:cNvSpPr/>
            <p:nvPr/>
          </p:nvSpPr>
          <p:spPr>
            <a:xfrm>
              <a:off x="8199618" y="3159000"/>
              <a:ext cx="540000" cy="540000"/>
            </a:xfrm>
            <a:prstGeom prst="actionButtonSound">
              <a:avLst/>
            </a:prstGeom>
            <a:solidFill>
              <a:srgbClr val="F4F4F4"/>
            </a:solidFill>
            <a:ln>
              <a:solidFill>
                <a:srgbClr val="6666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2" name="Marcador de texto 16">
              <a:extLst>
                <a:ext uri="{FF2B5EF4-FFF2-40B4-BE49-F238E27FC236}">
                  <a16:creationId xmlns:a16="http://schemas.microsoft.com/office/drawing/2014/main" id="{42AA1D61-D0FF-BD2D-5ECA-7BB3334C9393}"/>
                </a:ext>
              </a:extLst>
            </p:cNvPr>
            <p:cNvSpPr txBox="1">
              <a:spLocks/>
            </p:cNvSpPr>
            <p:nvPr/>
          </p:nvSpPr>
          <p:spPr>
            <a:xfrm>
              <a:off x="8857121" y="3006726"/>
              <a:ext cx="2495090" cy="84751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rgbClr val="FDD500"/>
                </a:buClr>
              </a:pPr>
              <a:r>
                <a:rPr lang="es-AR" sz="2000" b="0" i="1" dirty="0">
                  <a:solidFill>
                    <a:srgbClr val="666666"/>
                  </a:solidFill>
                </a:rPr>
                <a:t>Notificación sonora</a:t>
              </a:r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8F1DA874-9AD9-B417-93E6-9684F6B350E3}"/>
              </a:ext>
            </a:extLst>
          </p:cNvPr>
          <p:cNvGrpSpPr/>
          <p:nvPr/>
        </p:nvGrpSpPr>
        <p:grpSpPr>
          <a:xfrm>
            <a:off x="8082114" y="4753077"/>
            <a:ext cx="3270097" cy="847520"/>
            <a:chOff x="8082114" y="5167004"/>
            <a:chExt cx="3270097" cy="847520"/>
          </a:xfrm>
        </p:grpSpPr>
        <p:sp>
          <p:nvSpPr>
            <p:cNvPr id="34" name="Marcador de texto 16">
              <a:extLst>
                <a:ext uri="{FF2B5EF4-FFF2-40B4-BE49-F238E27FC236}">
                  <a16:creationId xmlns:a16="http://schemas.microsoft.com/office/drawing/2014/main" id="{D41FACEC-95C8-7E7B-34F8-919187E444C1}"/>
                </a:ext>
              </a:extLst>
            </p:cNvPr>
            <p:cNvSpPr txBox="1">
              <a:spLocks/>
            </p:cNvSpPr>
            <p:nvPr/>
          </p:nvSpPr>
          <p:spPr>
            <a:xfrm>
              <a:off x="8082114" y="5167005"/>
              <a:ext cx="3270097" cy="847519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rgbClr val="FDD500"/>
                </a:buClr>
              </a:pPr>
              <a:endParaRPr lang="es-AR" b="0" dirty="0"/>
            </a:p>
          </p:txBody>
        </p:sp>
        <p:sp>
          <p:nvSpPr>
            <p:cNvPr id="36" name="Marcador de texto 16">
              <a:extLst>
                <a:ext uri="{FF2B5EF4-FFF2-40B4-BE49-F238E27FC236}">
                  <a16:creationId xmlns:a16="http://schemas.microsoft.com/office/drawing/2014/main" id="{FFB0FA42-D70B-B621-6C0E-DE49F6FAFFDE}"/>
                </a:ext>
              </a:extLst>
            </p:cNvPr>
            <p:cNvSpPr txBox="1">
              <a:spLocks/>
            </p:cNvSpPr>
            <p:nvPr/>
          </p:nvSpPr>
          <p:spPr>
            <a:xfrm>
              <a:off x="8857121" y="5167004"/>
              <a:ext cx="2495090" cy="84751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>
                  <a:srgbClr val="FDD500"/>
                </a:buClr>
              </a:pPr>
              <a:r>
                <a:rPr lang="es-AR" sz="2000" b="0" i="1" dirty="0">
                  <a:solidFill>
                    <a:srgbClr val="666666"/>
                  </a:solidFill>
                </a:rPr>
                <a:t>Indicación de puesto</a:t>
              </a:r>
            </a:p>
          </p:txBody>
        </p:sp>
        <p:sp>
          <p:nvSpPr>
            <p:cNvPr id="37" name="Botón de acción: obtener información 3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F9051FF-928F-D588-CBFE-5A0622EA6543}"/>
                </a:ext>
              </a:extLst>
            </p:cNvPr>
            <p:cNvSpPr/>
            <p:nvPr/>
          </p:nvSpPr>
          <p:spPr>
            <a:xfrm>
              <a:off x="8199618" y="5320763"/>
              <a:ext cx="540000" cy="540000"/>
            </a:xfrm>
            <a:prstGeom prst="actionButtonInformation">
              <a:avLst/>
            </a:prstGeom>
            <a:solidFill>
              <a:srgbClr val="F4F4F4"/>
            </a:solidFill>
            <a:ln>
              <a:solidFill>
                <a:srgbClr val="6666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</p:spTree>
    <p:extLst>
      <p:ext uri="{BB962C8B-B14F-4D97-AF65-F5344CB8AC3E}">
        <p14:creationId xmlns:p14="http://schemas.microsoft.com/office/powerpoint/2010/main" val="1021082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AF724-47D6-CAE8-0043-2C611C8BB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F7914-4616-8448-4DB7-E2F80AFB6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3600" dirty="0"/>
              <a:t>6. Trazabilidad y registro</a:t>
            </a:r>
          </a:p>
        </p:txBody>
      </p:sp>
      <p:sp>
        <p:nvSpPr>
          <p:cNvPr id="8" name="Diagrama de flujo: proceso 7">
            <a:extLst>
              <a:ext uri="{FF2B5EF4-FFF2-40B4-BE49-F238E27FC236}">
                <a16:creationId xmlns:a16="http://schemas.microsoft.com/office/drawing/2014/main" id="{41C18E94-7C4F-E3BD-4BDE-D4A5F47B7E90}"/>
              </a:ext>
            </a:extLst>
          </p:cNvPr>
          <p:cNvSpPr/>
          <p:nvPr/>
        </p:nvSpPr>
        <p:spPr>
          <a:xfrm>
            <a:off x="0" y="1"/>
            <a:ext cx="108155" cy="6858000"/>
          </a:xfrm>
          <a:prstGeom prst="flowChartProcess">
            <a:avLst/>
          </a:prstGeom>
          <a:solidFill>
            <a:srgbClr val="FDD500"/>
          </a:solidFill>
          <a:ln>
            <a:solidFill>
              <a:srgbClr val="FDD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Diagrama de flujo: proceso 9">
            <a:extLst>
              <a:ext uri="{FF2B5EF4-FFF2-40B4-BE49-F238E27FC236}">
                <a16:creationId xmlns:a16="http://schemas.microsoft.com/office/drawing/2014/main" id="{95F54FE8-5F41-8524-E4C9-778491BBDE1D}"/>
              </a:ext>
            </a:extLst>
          </p:cNvPr>
          <p:cNvSpPr/>
          <p:nvPr/>
        </p:nvSpPr>
        <p:spPr>
          <a:xfrm>
            <a:off x="1" y="1379990"/>
            <a:ext cx="6095999" cy="108000"/>
          </a:xfrm>
          <a:prstGeom prst="flowChartProcess">
            <a:avLst/>
          </a:prstGeom>
          <a:solidFill>
            <a:srgbClr val="FDD500"/>
          </a:solidFill>
          <a:ln>
            <a:solidFill>
              <a:srgbClr val="FDD500">
                <a:alpha val="9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Marcador de texto 16">
            <a:extLst>
              <a:ext uri="{FF2B5EF4-FFF2-40B4-BE49-F238E27FC236}">
                <a16:creationId xmlns:a16="http://schemas.microsoft.com/office/drawing/2014/main" id="{D43DAD4F-5F8B-D2AB-8F9B-08802F7F7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512224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rgbClr val="FDD500"/>
              </a:buClr>
            </a:pPr>
            <a:r>
              <a:rPr lang="es-AR" b="0" dirty="0"/>
              <a:t>Cada turno conserva la información de atención y estado actual.</a:t>
            </a:r>
          </a:p>
        </p:txBody>
      </p:sp>
      <p:pic>
        <p:nvPicPr>
          <p:cNvPr id="14" name="Marcador de contenido 22">
            <a:extLst>
              <a:ext uri="{FF2B5EF4-FFF2-40B4-BE49-F238E27FC236}">
                <a16:creationId xmlns:a16="http://schemas.microsoft.com/office/drawing/2014/main" id="{B04691F3-1425-B529-1CA4-1F94C7533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9179" y="2386560"/>
            <a:ext cx="6854700" cy="38557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30C87EF6-A0A2-8D52-A380-9E2E342F5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85472" y="2344224"/>
            <a:ext cx="3466740" cy="512224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AR" sz="2800" dirty="0"/>
              <a:t>¿Qué se registra?</a:t>
            </a:r>
          </a:p>
        </p:txBody>
      </p:sp>
      <p:sp>
        <p:nvSpPr>
          <p:cNvPr id="20" name="Marcador de contenido 5">
            <a:extLst>
              <a:ext uri="{FF2B5EF4-FFF2-40B4-BE49-F238E27FC236}">
                <a16:creationId xmlns:a16="http://schemas.microsoft.com/office/drawing/2014/main" id="{0970CC38-4BC6-B39E-D31A-1E7D713579AB}"/>
              </a:ext>
            </a:extLst>
          </p:cNvPr>
          <p:cNvSpPr txBox="1">
            <a:spLocks/>
          </p:cNvSpPr>
          <p:nvPr/>
        </p:nvSpPr>
        <p:spPr>
          <a:xfrm>
            <a:off x="7885471" y="2856448"/>
            <a:ext cx="3466739" cy="3385881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DD500"/>
              </a:buClr>
            </a:pPr>
            <a:r>
              <a:rPr lang="es-AR" sz="2400" dirty="0"/>
              <a:t>Turno y tipo.</a:t>
            </a:r>
          </a:p>
          <a:p>
            <a:pPr>
              <a:buClr>
                <a:srgbClr val="FDD500"/>
              </a:buClr>
            </a:pPr>
            <a:r>
              <a:rPr lang="es-AR" sz="2400" dirty="0"/>
              <a:t>Hora generado.</a:t>
            </a:r>
          </a:p>
          <a:p>
            <a:pPr>
              <a:buClr>
                <a:srgbClr val="FDD500"/>
              </a:buClr>
            </a:pPr>
            <a:r>
              <a:rPr lang="es-AR" sz="2400" dirty="0"/>
              <a:t>Hora llamado.</a:t>
            </a:r>
          </a:p>
          <a:p>
            <a:pPr>
              <a:buClr>
                <a:srgbClr val="FDD500"/>
              </a:buClr>
            </a:pPr>
            <a:r>
              <a:rPr lang="es-AR" sz="2400" dirty="0"/>
              <a:t>Puesto.</a:t>
            </a:r>
          </a:p>
          <a:p>
            <a:pPr>
              <a:buClr>
                <a:srgbClr val="FDD500"/>
              </a:buClr>
            </a:pPr>
            <a:r>
              <a:rPr lang="es-AR" sz="2400" dirty="0"/>
              <a:t>Hora finalizado.</a:t>
            </a:r>
          </a:p>
          <a:p>
            <a:pPr>
              <a:buClr>
                <a:srgbClr val="FDD500"/>
              </a:buClr>
            </a:pPr>
            <a:r>
              <a:rPr lang="es-AR" sz="2400" dirty="0"/>
              <a:t>Estado.</a:t>
            </a:r>
          </a:p>
        </p:txBody>
      </p:sp>
      <p:sp>
        <p:nvSpPr>
          <p:cNvPr id="22" name="Marcador de texto 16">
            <a:extLst>
              <a:ext uri="{FF2B5EF4-FFF2-40B4-BE49-F238E27FC236}">
                <a16:creationId xmlns:a16="http://schemas.microsoft.com/office/drawing/2014/main" id="{922A7995-F677-3C18-3C4B-B8BE3DFCCF42}"/>
              </a:ext>
            </a:extLst>
          </p:cNvPr>
          <p:cNvSpPr txBox="1">
            <a:spLocks/>
          </p:cNvSpPr>
          <p:nvPr/>
        </p:nvSpPr>
        <p:spPr>
          <a:xfrm>
            <a:off x="698089" y="6435501"/>
            <a:ext cx="10864645" cy="3190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FDD500"/>
              </a:buClr>
            </a:pPr>
            <a:r>
              <a:rPr lang="es-AR" sz="2000" b="0" i="1" dirty="0">
                <a:solidFill>
                  <a:srgbClr val="666666"/>
                </a:solidFill>
              </a:rPr>
              <a:t>El historial además permite filtrar por fecha y estado, así como exportar los datos para su análisis.</a:t>
            </a:r>
          </a:p>
        </p:txBody>
      </p:sp>
    </p:spTree>
    <p:extLst>
      <p:ext uri="{BB962C8B-B14F-4D97-AF65-F5344CB8AC3E}">
        <p14:creationId xmlns:p14="http://schemas.microsoft.com/office/powerpoint/2010/main" val="3408357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B1459-99C2-B396-05DC-2B2E1F0F2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45014-87A3-C916-C0FF-7602F2AA8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3600" dirty="0"/>
              <a:t>7. Funcionamiento interno</a:t>
            </a:r>
          </a:p>
        </p:txBody>
      </p:sp>
      <p:sp>
        <p:nvSpPr>
          <p:cNvPr id="8" name="Diagrama de flujo: proceso 7">
            <a:extLst>
              <a:ext uri="{FF2B5EF4-FFF2-40B4-BE49-F238E27FC236}">
                <a16:creationId xmlns:a16="http://schemas.microsoft.com/office/drawing/2014/main" id="{183DF1AE-AD7B-EF04-D84C-4D08F2E1DE88}"/>
              </a:ext>
            </a:extLst>
          </p:cNvPr>
          <p:cNvSpPr/>
          <p:nvPr/>
        </p:nvSpPr>
        <p:spPr>
          <a:xfrm>
            <a:off x="0" y="1"/>
            <a:ext cx="108155" cy="6858000"/>
          </a:xfrm>
          <a:prstGeom prst="flowChartProcess">
            <a:avLst/>
          </a:prstGeom>
          <a:solidFill>
            <a:srgbClr val="FDD500"/>
          </a:solidFill>
          <a:ln>
            <a:solidFill>
              <a:srgbClr val="FDD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Diagrama de flujo: proceso 9">
            <a:extLst>
              <a:ext uri="{FF2B5EF4-FFF2-40B4-BE49-F238E27FC236}">
                <a16:creationId xmlns:a16="http://schemas.microsoft.com/office/drawing/2014/main" id="{984A52C6-895E-663A-6681-BE8546BCD59F}"/>
              </a:ext>
            </a:extLst>
          </p:cNvPr>
          <p:cNvSpPr/>
          <p:nvPr/>
        </p:nvSpPr>
        <p:spPr>
          <a:xfrm>
            <a:off x="1" y="1379990"/>
            <a:ext cx="6095999" cy="108000"/>
          </a:xfrm>
          <a:prstGeom prst="flowChartProcess">
            <a:avLst/>
          </a:prstGeom>
          <a:solidFill>
            <a:srgbClr val="FDD500"/>
          </a:solidFill>
          <a:ln>
            <a:solidFill>
              <a:srgbClr val="FDD500">
                <a:alpha val="9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Diagrama de flujo: proceso alternativo 17">
            <a:extLst>
              <a:ext uri="{FF2B5EF4-FFF2-40B4-BE49-F238E27FC236}">
                <a16:creationId xmlns:a16="http://schemas.microsoft.com/office/drawing/2014/main" id="{B027ACB0-FEE9-019D-1831-EF22B51C568B}"/>
              </a:ext>
            </a:extLst>
          </p:cNvPr>
          <p:cNvSpPr/>
          <p:nvPr/>
        </p:nvSpPr>
        <p:spPr>
          <a:xfrm>
            <a:off x="4296000" y="3070677"/>
            <a:ext cx="3600000" cy="12600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600" b="1" dirty="0">
                <a:solidFill>
                  <a:schemeClr val="tx1"/>
                </a:solidFill>
              </a:rPr>
              <a:t>Servidor</a:t>
            </a:r>
            <a:endParaRPr lang="es-AR" sz="2400" b="1" dirty="0">
              <a:solidFill>
                <a:schemeClr val="tx1"/>
              </a:solidFill>
            </a:endParaRPr>
          </a:p>
        </p:txBody>
      </p:sp>
      <p:sp>
        <p:nvSpPr>
          <p:cNvPr id="20" name="Diagrama de flujo: proceso alternativo 19">
            <a:extLst>
              <a:ext uri="{FF2B5EF4-FFF2-40B4-BE49-F238E27FC236}">
                <a16:creationId xmlns:a16="http://schemas.microsoft.com/office/drawing/2014/main" id="{6CCF864A-FB20-E323-B08C-35576355F53D}"/>
              </a:ext>
            </a:extLst>
          </p:cNvPr>
          <p:cNvSpPr/>
          <p:nvPr/>
        </p:nvSpPr>
        <p:spPr>
          <a:xfrm>
            <a:off x="5196000" y="2054532"/>
            <a:ext cx="1800000" cy="7200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tx1"/>
                </a:solidFill>
              </a:rPr>
              <a:t>Kiosco</a:t>
            </a:r>
            <a:br>
              <a:rPr lang="es-AR" sz="2000" dirty="0">
                <a:solidFill>
                  <a:schemeClr val="tx1"/>
                </a:solidFill>
              </a:rPr>
            </a:br>
            <a:r>
              <a:rPr lang="es-AR" sz="2000" i="1" dirty="0">
                <a:solidFill>
                  <a:srgbClr val="666666"/>
                </a:solidFill>
              </a:rPr>
              <a:t>Genera R/C</a:t>
            </a:r>
            <a:endParaRPr lang="es-AR" sz="2400" i="1" dirty="0">
              <a:solidFill>
                <a:srgbClr val="666666"/>
              </a:solidFill>
            </a:endParaRPr>
          </a:p>
        </p:txBody>
      </p:sp>
      <p:sp>
        <p:nvSpPr>
          <p:cNvPr id="22" name="Diagrama de flujo: proceso alternativo 21">
            <a:extLst>
              <a:ext uri="{FF2B5EF4-FFF2-40B4-BE49-F238E27FC236}">
                <a16:creationId xmlns:a16="http://schemas.microsoft.com/office/drawing/2014/main" id="{4C404E52-8CD4-B28E-54D2-E3DB27F8E13C}"/>
              </a:ext>
            </a:extLst>
          </p:cNvPr>
          <p:cNvSpPr/>
          <p:nvPr/>
        </p:nvSpPr>
        <p:spPr>
          <a:xfrm>
            <a:off x="1483974" y="3340677"/>
            <a:ext cx="2520000" cy="7200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tx1"/>
                </a:solidFill>
              </a:rPr>
              <a:t>Panel asesor</a:t>
            </a:r>
            <a:br>
              <a:rPr lang="es-AR" sz="2000" dirty="0">
                <a:solidFill>
                  <a:schemeClr val="tx1"/>
                </a:solidFill>
              </a:rPr>
            </a:br>
            <a:r>
              <a:rPr lang="es-AR" sz="2000" i="1" dirty="0">
                <a:solidFill>
                  <a:srgbClr val="666666"/>
                </a:solidFill>
              </a:rPr>
              <a:t>Llama y finaliza</a:t>
            </a:r>
            <a:endParaRPr lang="es-AR" sz="2400" i="1" dirty="0">
              <a:solidFill>
                <a:srgbClr val="666666"/>
              </a:solidFill>
            </a:endParaRPr>
          </a:p>
        </p:txBody>
      </p:sp>
      <p:sp>
        <p:nvSpPr>
          <p:cNvPr id="24" name="Diagrama de flujo: proceso alternativo 23">
            <a:extLst>
              <a:ext uri="{FF2B5EF4-FFF2-40B4-BE49-F238E27FC236}">
                <a16:creationId xmlns:a16="http://schemas.microsoft.com/office/drawing/2014/main" id="{04EB8E77-8B5C-D85B-43F0-EA76A1659CA8}"/>
              </a:ext>
            </a:extLst>
          </p:cNvPr>
          <p:cNvSpPr/>
          <p:nvPr/>
        </p:nvSpPr>
        <p:spPr>
          <a:xfrm>
            <a:off x="4836000" y="4630666"/>
            <a:ext cx="2520000" cy="7200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tx1"/>
                </a:solidFill>
              </a:rPr>
              <a:t>Base de datos</a:t>
            </a:r>
            <a:br>
              <a:rPr lang="es-AR" sz="2000" dirty="0">
                <a:solidFill>
                  <a:schemeClr val="tx1"/>
                </a:solidFill>
              </a:rPr>
            </a:br>
            <a:r>
              <a:rPr lang="es-AR" sz="2000" i="1" dirty="0">
                <a:solidFill>
                  <a:srgbClr val="666666"/>
                </a:solidFill>
              </a:rPr>
              <a:t>Registros</a:t>
            </a:r>
            <a:endParaRPr lang="es-AR" sz="2400" i="1" dirty="0">
              <a:solidFill>
                <a:srgbClr val="666666"/>
              </a:solidFill>
            </a:endParaRPr>
          </a:p>
        </p:txBody>
      </p:sp>
      <p:sp>
        <p:nvSpPr>
          <p:cNvPr id="28" name="Diagrama de flujo: proceso alternativo 27">
            <a:extLst>
              <a:ext uri="{FF2B5EF4-FFF2-40B4-BE49-F238E27FC236}">
                <a16:creationId xmlns:a16="http://schemas.microsoft.com/office/drawing/2014/main" id="{7E0A56FB-5D78-86C2-C872-686BA3B47CA3}"/>
              </a:ext>
            </a:extLst>
          </p:cNvPr>
          <p:cNvSpPr/>
          <p:nvPr/>
        </p:nvSpPr>
        <p:spPr>
          <a:xfrm>
            <a:off x="8188026" y="3340677"/>
            <a:ext cx="2520000" cy="7200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tx1"/>
                </a:solidFill>
              </a:rPr>
              <a:t>Pantalla</a:t>
            </a:r>
            <a:br>
              <a:rPr lang="es-AR" sz="2000" dirty="0">
                <a:solidFill>
                  <a:schemeClr val="tx1"/>
                </a:solidFill>
              </a:rPr>
            </a:br>
            <a:r>
              <a:rPr lang="es-AR" sz="2000" i="1" dirty="0">
                <a:solidFill>
                  <a:srgbClr val="666666"/>
                </a:solidFill>
              </a:rPr>
              <a:t>Muestra llamados</a:t>
            </a:r>
            <a:endParaRPr lang="es-AR" sz="2400" i="1" dirty="0">
              <a:solidFill>
                <a:srgbClr val="666666"/>
              </a:solidFill>
            </a:endParaRPr>
          </a:p>
        </p:txBody>
      </p:sp>
      <p:sp>
        <p:nvSpPr>
          <p:cNvPr id="31" name="Diagrama de flujo: proceso alternativo 30">
            <a:extLst>
              <a:ext uri="{FF2B5EF4-FFF2-40B4-BE49-F238E27FC236}">
                <a16:creationId xmlns:a16="http://schemas.microsoft.com/office/drawing/2014/main" id="{B34F1C5B-98F9-4E0B-5834-B5CD64A06FE5}"/>
              </a:ext>
            </a:extLst>
          </p:cNvPr>
          <p:cNvSpPr/>
          <p:nvPr/>
        </p:nvSpPr>
        <p:spPr>
          <a:xfrm>
            <a:off x="8194376" y="5350232"/>
            <a:ext cx="2520000" cy="720000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tx1"/>
                </a:solidFill>
              </a:rPr>
              <a:t>Historial</a:t>
            </a:r>
            <a:br>
              <a:rPr lang="es-AR" sz="2000" dirty="0">
                <a:solidFill>
                  <a:schemeClr val="tx1"/>
                </a:solidFill>
              </a:rPr>
            </a:br>
            <a:r>
              <a:rPr lang="es-AR" sz="2000" i="1" dirty="0">
                <a:solidFill>
                  <a:srgbClr val="666666"/>
                </a:solidFill>
              </a:rPr>
              <a:t>Consulta y exporta</a:t>
            </a:r>
            <a:endParaRPr lang="es-AR" sz="2400" i="1" dirty="0">
              <a:solidFill>
                <a:srgbClr val="666666"/>
              </a:solidFill>
            </a:endParaRP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B86C80E0-5C00-2F1B-861F-999A9EC7E3AB}"/>
              </a:ext>
            </a:extLst>
          </p:cNvPr>
          <p:cNvCxnSpPr>
            <a:stCxn id="20" idx="2"/>
            <a:endCxn id="18" idx="0"/>
          </p:cNvCxnSpPr>
          <p:nvPr/>
        </p:nvCxnSpPr>
        <p:spPr>
          <a:xfrm>
            <a:off x="6096000" y="2774532"/>
            <a:ext cx="0" cy="296145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457CE78E-9EA9-EF52-39E3-7BA8AC8203D4}"/>
              </a:ext>
            </a:extLst>
          </p:cNvPr>
          <p:cNvCxnSpPr>
            <a:cxnSpLocks/>
            <a:stCxn id="18" idx="1"/>
            <a:endCxn id="22" idx="3"/>
          </p:cNvCxnSpPr>
          <p:nvPr/>
        </p:nvCxnSpPr>
        <p:spPr>
          <a:xfrm flipH="1">
            <a:off x="4003974" y="3700677"/>
            <a:ext cx="292026" cy="0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D3463BAF-686C-7664-8A92-8BAD6DE86895}"/>
              </a:ext>
            </a:extLst>
          </p:cNvPr>
          <p:cNvCxnSpPr>
            <a:cxnSpLocks/>
            <a:stCxn id="22" idx="0"/>
            <a:endCxn id="28" idx="0"/>
          </p:cNvCxnSpPr>
          <p:nvPr/>
        </p:nvCxnSpPr>
        <p:spPr>
          <a:xfrm rot="5400000" flipH="1" flipV="1">
            <a:off x="6096000" y="-11349"/>
            <a:ext cx="12700" cy="6704052"/>
          </a:xfrm>
          <a:prstGeom prst="bentConnector3">
            <a:avLst>
              <a:gd name="adj1" fmla="val 12300000"/>
            </a:avLst>
          </a:prstGeom>
          <a:ln w="19050" cap="flat" cmpd="sng" algn="ctr">
            <a:solidFill>
              <a:srgbClr val="66666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D5D79489-0B7B-2314-2498-6297683A2950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>
            <a:off x="6096000" y="4330677"/>
            <a:ext cx="0" cy="299989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1877E87C-A9E2-1615-8093-93C2EDD55B32}"/>
              </a:ext>
            </a:extLst>
          </p:cNvPr>
          <p:cNvCxnSpPr>
            <a:cxnSpLocks/>
            <a:stCxn id="24" idx="3"/>
            <a:endCxn id="31" idx="0"/>
          </p:cNvCxnSpPr>
          <p:nvPr/>
        </p:nvCxnSpPr>
        <p:spPr>
          <a:xfrm>
            <a:off x="7356000" y="4990666"/>
            <a:ext cx="2098376" cy="359566"/>
          </a:xfrm>
          <a:prstGeom prst="bentConnector2">
            <a:avLst/>
          </a:prstGeom>
          <a:ln w="19050" cap="flat" cmpd="sng" algn="ctr">
            <a:solidFill>
              <a:srgbClr val="66666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F494B470-F2E2-0FAC-3335-002DDE07C327}"/>
              </a:ext>
            </a:extLst>
          </p:cNvPr>
          <p:cNvCxnSpPr>
            <a:cxnSpLocks/>
            <a:stCxn id="28" idx="1"/>
            <a:endCxn id="18" idx="3"/>
          </p:cNvCxnSpPr>
          <p:nvPr/>
        </p:nvCxnSpPr>
        <p:spPr>
          <a:xfrm flipH="1">
            <a:off x="7896000" y="3700677"/>
            <a:ext cx="292026" cy="0"/>
          </a:xfrm>
          <a:prstGeom prst="straightConnector1">
            <a:avLst/>
          </a:prstGeom>
          <a:ln w="19050" cap="flat" cmpd="sng" algn="ctr">
            <a:solidFill>
              <a:srgbClr val="66666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2370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304</Words>
  <Application>Microsoft Office PowerPoint</Application>
  <PresentationFormat>Panorámica</PresentationFormat>
  <Paragraphs>57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TURNERO DIGITAL</vt:lpstr>
      <vt:lpstr>1. Problema que busca resolver</vt:lpstr>
      <vt:lpstr>2. Experiencia del cliente</vt:lpstr>
      <vt:lpstr>3. Generación y gestión del turno</vt:lpstr>
      <vt:lpstr>4. Panel del asesor de ventas</vt:lpstr>
      <vt:lpstr>5. Pantalla de llamados</vt:lpstr>
      <vt:lpstr>6. Trazabilidad y registro</vt:lpstr>
      <vt:lpstr>7. Funcionamiento interno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 Bernabei</dc:creator>
  <cp:lastModifiedBy>Manu Bernabei</cp:lastModifiedBy>
  <cp:revision>4</cp:revision>
  <dcterms:created xsi:type="dcterms:W3CDTF">2026-10-01T16:06:08Z</dcterms:created>
  <dcterms:modified xsi:type="dcterms:W3CDTF">2026-10-01T19:24:23Z</dcterms:modified>
</cp:coreProperties>
</file>